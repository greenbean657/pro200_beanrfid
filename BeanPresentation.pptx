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3f3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CLICK TO </a:t>
            </a: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EDIT </a:t>
            </a: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MASTER </a:t>
            </a: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TITLE </a:t>
            </a: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Third Outline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Fourth Outline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angle 8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9" descr=""/>
          <p:cNvPicPr/>
          <p:nvPr/>
        </p:nvPicPr>
        <p:blipFill>
          <a:blip r:embed="rId3"/>
          <a:stretch/>
        </p:blipFill>
        <p:spPr>
          <a:xfrm>
            <a:off x="54864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009960" y="5128200"/>
            <a:ext cx="6171840" cy="50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2000" strike="noStrike" u="none">
                <a:solidFill>
                  <a:srgbClr val="e88e2a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009960" y="1011240"/>
            <a:ext cx="6171840" cy="411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32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3009960" y="5633640"/>
            <a:ext cx="6171840" cy="4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4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CADC88-078B-469A-823B-2212B2D20CF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1_Title Only">
    <p:bg>
      <p:bgPr>
        <a:gradFill rotWithShape="0">
          <a:gsLst>
            <a:gs pos="0">
              <a:srgbClr val="616161"/>
            </a:gs>
            <a:gs pos="50000">
              <a:srgbClr val="484848"/>
            </a:gs>
            <a:gs pos="100000">
              <a:srgbClr val="333333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935280"/>
            <a:ext cx="10515240" cy="8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e88e2a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FA9861-4E68-44C2-8159-8D934BB882A7}" type="slidenum">
              <a:rPr b="0" lang="en-US" sz="12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Third Outline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Fourth Outline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ctangle 11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" name="Rectangle 8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1288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e88e2a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2614680"/>
            <a:ext cx="10515240" cy="337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ed517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20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»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160A30-DE7C-4C64-BAB4-B716C8E29A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" name="Picture 10" descr=""/>
          <p:cNvPicPr/>
          <p:nvPr/>
        </p:nvPicPr>
        <p:blipFill>
          <a:blip r:embed="rId3"/>
          <a:stretch/>
        </p:blipFill>
        <p:spPr>
          <a:xfrm>
            <a:off x="38952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8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1288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e88e2a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2749320"/>
            <a:ext cx="10515240" cy="32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ed517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20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»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193CEC-B1B3-4279-9B4A-63B4BFF92E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Picture 10" descr=""/>
          <p:cNvPicPr/>
          <p:nvPr/>
        </p:nvPicPr>
        <p:blipFill>
          <a:blip r:embed="rId3"/>
          <a:stretch/>
        </p:blipFill>
        <p:spPr>
          <a:xfrm>
            <a:off x="572400" y="178920"/>
            <a:ext cx="2072520" cy="731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5e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8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487680"/>
            <a:ext cx="10515240" cy="7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98756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FF1372-7E79-4C05-955B-E0637CB89E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Picture 8" descr=""/>
          <p:cNvPicPr/>
          <p:nvPr/>
        </p:nvPicPr>
        <p:blipFill>
          <a:blip r:embed="rId3"/>
          <a:stretch/>
        </p:blipFill>
        <p:spPr>
          <a:xfrm>
            <a:off x="58824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9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ectangle 7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Rectangle 8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itle 1"/>
          <p:cNvSpPr/>
          <p:nvPr/>
        </p:nvSpPr>
        <p:spPr>
          <a:xfrm>
            <a:off x="772200" y="1301760"/>
            <a:ext cx="10515240" cy="10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en-US" sz="3200" strike="noStrike" u="none">
                <a:solidFill>
                  <a:srgbClr val="e88e2a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body"/>
          </p:nvPr>
        </p:nvSpPr>
        <p:spPr>
          <a:xfrm>
            <a:off x="838080" y="2356560"/>
            <a:ext cx="4939920" cy="36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ed517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20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»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11" descr=""/>
          <p:cNvPicPr/>
          <p:nvPr/>
        </p:nvPicPr>
        <p:blipFill>
          <a:blip r:embed="rId3"/>
          <a:stretch/>
        </p:blipFill>
        <p:spPr>
          <a:xfrm>
            <a:off x="659880" y="14400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30000" y="2356560"/>
            <a:ext cx="4939920" cy="36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ed517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20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»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BD0A0F-872F-45F5-9E4C-2CECB01780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Rectangle 9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10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itle 1"/>
          <p:cNvSpPr/>
          <p:nvPr/>
        </p:nvSpPr>
        <p:spPr>
          <a:xfrm>
            <a:off x="772200" y="990360"/>
            <a:ext cx="10515240" cy="10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en-US" sz="3200" strike="noStrike" u="none">
                <a:solidFill>
                  <a:srgbClr val="e88e2a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838080" y="2356560"/>
            <a:ext cx="4939920" cy="36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ed517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20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»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pic>
        <p:nvPicPr>
          <p:cNvPr id="76" name="Picture 13" descr=""/>
          <p:cNvPicPr/>
          <p:nvPr/>
        </p:nvPicPr>
        <p:blipFill>
          <a:blip r:embed="rId3"/>
          <a:stretch/>
        </p:blipFill>
        <p:spPr>
          <a:xfrm>
            <a:off x="613080" y="10332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30000" y="2356560"/>
            <a:ext cx="4939920" cy="36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ed517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20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»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838080" y="1903680"/>
            <a:ext cx="5157360" cy="45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30000" y="1884240"/>
            <a:ext cx="5182920" cy="45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282536-BF00-41D1-9DA6-6E798CB0E3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angle 8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9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itle 1"/>
          <p:cNvSpPr/>
          <p:nvPr/>
        </p:nvSpPr>
        <p:spPr>
          <a:xfrm>
            <a:off x="772200" y="1301760"/>
            <a:ext cx="10515240" cy="10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en-US" sz="3200" strike="noStrike" u="none">
                <a:solidFill>
                  <a:srgbClr val="e88e2a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12" descr=""/>
          <p:cNvPicPr/>
          <p:nvPr/>
        </p:nvPicPr>
        <p:blipFill>
          <a:blip r:embed="rId3"/>
          <a:stretch/>
        </p:blipFill>
        <p:spPr>
          <a:xfrm>
            <a:off x="405360" y="15588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2ED7C2-A316-4A15-AE19-82AF11196C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Rectangle 4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5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8" descr=""/>
          <p:cNvPicPr/>
          <p:nvPr/>
        </p:nvPicPr>
        <p:blipFill>
          <a:blip r:embed="rId3"/>
          <a:stretch/>
        </p:blipFill>
        <p:spPr>
          <a:xfrm>
            <a:off x="45324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FBB2A7-235D-4E03-92E3-FF5B43EE3E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Picture 8" descr=""/>
          <p:cNvPicPr/>
          <p:nvPr/>
        </p:nvPicPr>
        <p:blipFill>
          <a:blip r:embed="rId2"/>
          <a:stretch/>
        </p:blipFill>
        <p:spPr>
          <a:xfrm>
            <a:off x="421560" y="91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7"/>
          <p:cNvSpPr/>
          <p:nvPr/>
        </p:nvSpPr>
        <p:spPr>
          <a:xfrm>
            <a:off x="0" y="6259320"/>
            <a:ext cx="12191760" cy="59832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blurRad="50760" dir="162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3f3f3f"/>
          </a:solidFill>
          <a:ln>
            <a:solidFill>
              <a:srgbClr val="494949"/>
            </a:solidFill>
          </a:ln>
          <a:effectLst>
            <a:outerShdw algn="t" blurRad="50760" dir="540000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itle 1"/>
          <p:cNvSpPr/>
          <p:nvPr/>
        </p:nvSpPr>
        <p:spPr>
          <a:xfrm>
            <a:off x="772200" y="1301760"/>
            <a:ext cx="5006160" cy="10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en-US" sz="3200" strike="noStrike" u="none">
                <a:solidFill>
                  <a:srgbClr val="e88e2a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11" descr=""/>
          <p:cNvPicPr/>
          <p:nvPr/>
        </p:nvPicPr>
        <p:blipFill>
          <a:blip r:embed="rId3"/>
          <a:stretch/>
        </p:blipFill>
        <p:spPr>
          <a:xfrm>
            <a:off x="604440" y="154440"/>
            <a:ext cx="207252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030000" y="1301760"/>
            <a:ext cx="4939920" cy="468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ed517"/>
              </a:buClr>
              <a:buFont typeface="Wingdings" charset="2"/>
              <a:buChar char=""/>
            </a:pPr>
            <a:r>
              <a:rPr b="0" lang="en-US" sz="24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20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̶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2c2d2c"/>
              </a:buClr>
              <a:buFont typeface="Calibri"/>
              <a:buChar char="»"/>
            </a:pPr>
            <a:r>
              <a:rPr b="0" lang="en-US" sz="1600" strike="noStrike" u="none">
                <a:solidFill>
                  <a:srgbClr val="2c2d2c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3f3f3f"/>
              </a:solidFill>
              <a:effectLst/>
              <a:uFillTx/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8AAA9C-026A-44DE-8C7E-6FC4899B80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838080" y="2543760"/>
            <a:ext cx="4939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3f3f3f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BeanRFID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RFID-based classroom attendance  ·  PRO200  ·  Nathaniel Cruz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935280"/>
            <a:ext cx="10515240" cy="8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What it is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June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841320" y="178308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RFID readers at classroom doors scan student ID badges. Each scan becomes an attendance row, surfaced through a web portal for staff and TAs.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841320" y="2971800"/>
            <a:ext cx="32457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b="1" lang="en-US" sz="3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01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2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Scan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Student taps their ID badge on the reader at the door.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7"/>
          <p:cNvSpPr/>
          <p:nvPr/>
        </p:nvSpPr>
        <p:spPr>
          <a:xfrm>
            <a:off x="4233600" y="3063240"/>
            <a:ext cx="16200" cy="214848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4416480" y="2971800"/>
            <a:ext cx="32457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b="1" lang="en-US" sz="3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02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2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Resolve &amp; record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 reader resolves the badge to a student and writes an attendance row.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7809120" y="3063240"/>
            <a:ext cx="16200" cy="214848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7992000" y="2971800"/>
            <a:ext cx="32457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b="1" lang="en-US" sz="3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03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2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Surface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School Admins, Staff, and TAs view attendance live in the web portal.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935280"/>
            <a:ext cx="10515240" cy="8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Architecture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June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841320" y="1965960"/>
            <a:ext cx="32457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b="1" lang="en-US" sz="17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RFID TRACK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799"/>
              </a:spcAft>
            </a:pPr>
            <a:r>
              <a:rPr b="1" lang="en-US" sz="15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—  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Raspberry Pi reader at the door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799"/>
              </a:spcAft>
            </a:pPr>
            <a:r>
              <a:rPr b="1" lang="en-US" sz="15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—  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On-device script resolves the scanned badge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799"/>
              </a:spcAft>
            </a:pPr>
            <a:r>
              <a:rPr b="1" lang="en-US" sz="15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—  </a:t>
            </a: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Writes an attendance row to the DB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6"/>
          <p:cNvSpPr/>
          <p:nvPr/>
        </p:nvSpPr>
        <p:spPr>
          <a:xfrm>
            <a:off x="4233600" y="2011680"/>
            <a:ext cx="16200" cy="365724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4416480" y="1965960"/>
            <a:ext cx="32457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b="1" lang="en-US" sz="17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WEBSITE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Backend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Express + node-postgres API — auth, attendance, rooms, exports.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React + TypeScript (CRA) — Login, Dashboard, Admin.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8"/>
          <p:cNvSpPr/>
          <p:nvPr/>
        </p:nvSpPr>
        <p:spPr>
          <a:xfrm>
            <a:off x="7809120" y="2011680"/>
            <a:ext cx="16200" cy="365724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7992000" y="1965960"/>
            <a:ext cx="32457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b="1" lang="en-US" sz="17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DATABASE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PostgreSQL 16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Connects directly over TCP.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201"/>
              </a:spcAf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users · rooms · attendance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400"/>
              </a:spcAf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badges · override_logs · export_logs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935280"/>
            <a:ext cx="10515240" cy="8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The stack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dt" idx="3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June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ftr" idx="3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841320" y="1965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3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LAYER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3749040" y="1965960"/>
            <a:ext cx="7589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3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TECHNOLOGY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7"/>
          <p:cNvSpPr/>
          <p:nvPr/>
        </p:nvSpPr>
        <p:spPr>
          <a:xfrm>
            <a:off x="841320" y="2404800"/>
            <a:ext cx="10515240" cy="1260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841320" y="2468880"/>
            <a:ext cx="2742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3749040" y="2468880"/>
            <a:ext cx="7589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5000"/>
              </a:lnSpc>
              <a:spcAft>
                <a:spcPts val="400"/>
              </a:spcAft>
            </a:pPr>
            <a:r>
              <a:rPr b="0" lang="en-US" sz="15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React + TypeScript (CRA), react-router-dom, custom CSS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0"/>
          <p:cNvSpPr/>
          <p:nvPr/>
        </p:nvSpPr>
        <p:spPr>
          <a:xfrm>
            <a:off x="841320" y="3310200"/>
            <a:ext cx="10515240" cy="12600"/>
          </a:xfrm>
          <a:prstGeom prst="rect">
            <a:avLst/>
          </a:prstGeom>
          <a:solidFill>
            <a:srgbClr val="5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1"/>
          <p:cNvSpPr/>
          <p:nvPr/>
        </p:nvSpPr>
        <p:spPr>
          <a:xfrm>
            <a:off x="841320" y="3310200"/>
            <a:ext cx="2742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Backend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3749040" y="3310200"/>
            <a:ext cx="7589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5000"/>
              </a:lnSpc>
              <a:spcAft>
                <a:spcPts val="400"/>
              </a:spcAft>
            </a:pPr>
            <a:r>
              <a:rPr b="0" lang="en-US" sz="15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Node.js, Express, pg, bcryptjs, jsonwebtoken, express-rate-limit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13"/>
          <p:cNvSpPr/>
          <p:nvPr/>
        </p:nvSpPr>
        <p:spPr>
          <a:xfrm>
            <a:off x="841320" y="4151520"/>
            <a:ext cx="10515240" cy="12600"/>
          </a:xfrm>
          <a:prstGeom prst="rect">
            <a:avLst/>
          </a:prstGeom>
          <a:solidFill>
            <a:srgbClr val="5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4"/>
          <p:cNvSpPr/>
          <p:nvPr/>
        </p:nvSpPr>
        <p:spPr>
          <a:xfrm>
            <a:off x="841320" y="4151520"/>
            <a:ext cx="2742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Database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5"/>
          <p:cNvSpPr/>
          <p:nvPr/>
        </p:nvSpPr>
        <p:spPr>
          <a:xfrm>
            <a:off x="3749040" y="4151520"/>
            <a:ext cx="7589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5000"/>
              </a:lnSpc>
              <a:spcAft>
                <a:spcPts val="400"/>
              </a:spcAft>
            </a:pPr>
            <a:r>
              <a:rPr b="0" lang="en-US" sz="15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PostgreSQL 16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6"/>
          <p:cNvSpPr/>
          <p:nvPr/>
        </p:nvSpPr>
        <p:spPr>
          <a:xfrm>
            <a:off x="841320" y="4992480"/>
            <a:ext cx="10515240" cy="12600"/>
          </a:xfrm>
          <a:prstGeom prst="rect">
            <a:avLst/>
          </a:prstGeom>
          <a:solidFill>
            <a:srgbClr val="5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7"/>
          <p:cNvSpPr/>
          <p:nvPr/>
        </p:nvSpPr>
        <p:spPr>
          <a:xfrm>
            <a:off x="841320" y="4992480"/>
            <a:ext cx="2742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Reader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8"/>
          <p:cNvSpPr/>
          <p:nvPr/>
        </p:nvSpPr>
        <p:spPr>
          <a:xfrm>
            <a:off x="3749040" y="4992480"/>
            <a:ext cx="7589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5000"/>
              </a:lnSpc>
              <a:spcAft>
                <a:spcPts val="400"/>
              </a:spcAft>
            </a:pPr>
            <a:r>
              <a:rPr b="0" lang="en-US" sz="15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Python on Raspberry Pi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935280"/>
            <a:ext cx="10515240" cy="8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Security &amp; FERPA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June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5"/>
          <p:cNvSpPr/>
          <p:nvPr/>
        </p:nvSpPr>
        <p:spPr>
          <a:xfrm>
            <a:off x="841320" y="17830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Attendance is a FERPA-protected education record, so </a:t>
            </a:r>
            <a:r>
              <a:rPr b="1" lang="en-US" sz="17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every read, override, and export is scoped and logged.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841320" y="2697480"/>
            <a:ext cx="32457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16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LEAST-PRIVILEGE ACCESS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799"/>
              </a:spcAft>
            </a:pPr>
            <a:r>
              <a:rPr b="0" lang="en-US" sz="14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Queries are scoped server-side to the caller's role and rooms — no client-side filtering.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799"/>
              </a:spcAft>
            </a:pPr>
            <a:r>
              <a:rPr b="0" lang="en-US" sz="14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Admins: all rooms.  Teachers: assigned rooms.  TAs: read-only.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7"/>
          <p:cNvSpPr/>
          <p:nvPr/>
        </p:nvSpPr>
        <p:spPr>
          <a:xfrm>
            <a:off x="4233600" y="2743200"/>
            <a:ext cx="16200" cy="228564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4416480" y="2697480"/>
            <a:ext cx="32457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16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AUDIT TRAIL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201"/>
              </a:spcAft>
            </a:pPr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override_logs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799"/>
              </a:spcAft>
            </a:pPr>
            <a:r>
              <a:rPr b="0" lang="en-US" sz="14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Every present/absent change — who and when.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201"/>
              </a:spcAft>
            </a:pPr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export_logs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799"/>
              </a:spcAft>
            </a:pPr>
            <a:r>
              <a:rPr b="0" lang="en-US" sz="14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Every CSV export of records.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201"/>
              </a:spcAft>
            </a:pPr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access_logs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799"/>
              </a:spcAft>
            </a:pPr>
            <a:r>
              <a:rPr b="0" lang="en-US" sz="14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Request-level access tracking.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9"/>
          <p:cNvSpPr/>
          <p:nvPr/>
        </p:nvSpPr>
        <p:spPr>
          <a:xfrm>
            <a:off x="7809120" y="2743200"/>
            <a:ext cx="16200" cy="228564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7992000" y="2697480"/>
            <a:ext cx="32457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16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FERPA-AWARE EXPORTS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799"/>
              </a:spcAft>
            </a:pPr>
            <a:r>
              <a:rPr b="0" lang="en-US" sz="145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CSV exports carry a FERPA annotation and are themselves logged — so every disclosure of student records is traceable.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11"/>
          <p:cNvSpPr/>
          <p:nvPr/>
        </p:nvSpPr>
        <p:spPr>
          <a:xfrm>
            <a:off x="841320" y="5212080"/>
            <a:ext cx="10515240" cy="1260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2"/>
          <p:cNvSpPr/>
          <p:nvPr/>
        </p:nvSpPr>
        <p:spPr>
          <a:xfrm>
            <a:off x="841320" y="53949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b="1" lang="en-US" sz="1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Accountability 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Every override and export is attributable to a user — no anonymous changes to attendance records.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935280"/>
            <a:ext cx="10515240" cy="8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Roles &amp; auth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June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841320" y="178308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JWT issued on login (8h expiry), stored in sessionStorage. </a:t>
            </a:r>
            <a:r>
              <a:rPr b="1" lang="en-US" sz="17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Three scoped roles: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841320" y="2697480"/>
            <a:ext cx="32457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2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admin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All rooms. Manages users and rooms; sees export logs.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7"/>
          <p:cNvSpPr/>
          <p:nvPr/>
        </p:nvSpPr>
        <p:spPr>
          <a:xfrm>
            <a:off x="4233600" y="2743200"/>
            <a:ext cx="16200" cy="173700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4416480" y="2697480"/>
            <a:ext cx="32457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2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teacher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Read and override on own assigned rooms only.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9"/>
          <p:cNvSpPr/>
          <p:nvPr/>
        </p:nvSpPr>
        <p:spPr>
          <a:xfrm>
            <a:off x="7809120" y="2743200"/>
            <a:ext cx="16200" cy="1737000"/>
          </a:xfrm>
          <a:prstGeom prst="rect">
            <a:avLst/>
          </a:prstGeom>
          <a:solidFill>
            <a:srgbClr val="fed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10"/>
          <p:cNvSpPr/>
          <p:nvPr/>
        </p:nvSpPr>
        <p:spPr>
          <a:xfrm>
            <a:off x="7992000" y="2697480"/>
            <a:ext cx="32457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2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TA student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Scoped, read-only access. (assistant in the DB.)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1"/>
          <p:cNvSpPr/>
          <p:nvPr/>
        </p:nvSpPr>
        <p:spPr>
          <a:xfrm>
            <a:off x="841320" y="4892040"/>
            <a:ext cx="10515240" cy="12600"/>
          </a:xfrm>
          <a:prstGeom prst="rect">
            <a:avLst/>
          </a:prstGeom>
          <a:solidFill>
            <a:srgbClr val="5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2"/>
          <p:cNvSpPr/>
          <p:nvPr/>
        </p:nvSpPr>
        <p:spPr>
          <a:xfrm>
            <a:off x="841320" y="50749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  <a:spcAft>
                <a:spcPts val="400"/>
              </a:spcAft>
            </a:pPr>
            <a:r>
              <a:rPr b="1" lang="en-US" sz="1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Security 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Passwords hashed with bcryptjs · rate-limited login · tokens verified on every request.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935280"/>
            <a:ext cx="10515240" cy="88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Key features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dt" idx="4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June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ftr" idx="4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5"/>
          <p:cNvSpPr/>
          <p:nvPr/>
        </p:nvSpPr>
        <p:spPr>
          <a:xfrm>
            <a:off x="841320" y="1920240"/>
            <a:ext cx="10515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b="1" lang="en-US" sz="2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Attendance table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400"/>
              </a:spcAft>
            </a:pPr>
            <a:r>
              <a:rPr b="0" lang="en-US" sz="15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Per-day roster with sort and filter, present/absent override (logged to override_logs), and FERPA-annotated CSV export (logged to export_logs).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6"/>
          <p:cNvSpPr/>
          <p:nvPr/>
        </p:nvSpPr>
        <p:spPr>
          <a:xfrm>
            <a:off x="841320" y="3173040"/>
            <a:ext cx="10515240" cy="12600"/>
          </a:xfrm>
          <a:prstGeom prst="rect">
            <a:avLst/>
          </a:prstGeom>
          <a:solidFill>
            <a:srgbClr val="5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841320" y="3218760"/>
            <a:ext cx="10515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b="1" lang="en-US" sz="2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Attendance trend graph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400"/>
              </a:spcAft>
            </a:pPr>
            <a:r>
              <a:rPr b="0" lang="en-US" sz="15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Custom SVG bar chart of daily present rate, visible to every role. Teachers are scoped to their rooms; admins and TAs see school-wide.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8"/>
          <p:cNvSpPr/>
          <p:nvPr/>
        </p:nvSpPr>
        <p:spPr>
          <a:xfrm>
            <a:off x="841320" y="4471560"/>
            <a:ext cx="10515240" cy="12600"/>
          </a:xfrm>
          <a:prstGeom prst="rect">
            <a:avLst/>
          </a:prstGeom>
          <a:solidFill>
            <a:srgbClr val="5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841320" y="4517280"/>
            <a:ext cx="10515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b="1" lang="en-US" sz="2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Day-by-day navigation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400"/>
              </a:spcAft>
            </a:pPr>
            <a:r>
              <a:rPr b="0" lang="en-US" sz="15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Dashboard shows one day at a time with prev / next controls that step through days with data, defaulting to the most recent.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June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914400" y="233172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5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LET'S SEE IT RUNNING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914400" y="2743200"/>
            <a:ext cx="10359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Live demo time!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1371600" y="3977640"/>
            <a:ext cx="94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Scan a badge → watch the row land in the portal.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rgbClr val="cfd2d4"/>
                </a:solidFill>
                <a:effectLst/>
                <a:uFillTx/>
                <a:latin typeface="Calibri"/>
              </a:rPr>
              <a:t>June 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914400" y="233172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5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OPEN FLOOR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914400" y="2743200"/>
            <a:ext cx="10359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Any questions?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1371600" y="3977640"/>
            <a:ext cx="94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Architecture, data model, auth, the reader — ask away.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54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BeanRFID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ed517"/>
                </a:solidFill>
                <a:effectLst/>
                <a:uFillTx/>
                <a:latin typeface="Calibri"/>
              </a:rPr>
              <a:t>Thanks for watching.  ·  Nathaniel Cruz  ·  PRO200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eumont Colors2">
      <a:dk1>
        <a:srgbClr val="2a2b2b"/>
      </a:dk1>
      <a:lt1>
        <a:srgbClr val="ffffff"/>
      </a:lt1>
      <a:dk2>
        <a:srgbClr val="3f3f3f"/>
      </a:dk2>
      <a:lt2>
        <a:srgbClr val="fed517"/>
      </a:lt2>
      <a:accent1>
        <a:srgbClr val="636363"/>
      </a:accent1>
      <a:accent2>
        <a:srgbClr val="fed517"/>
      </a:accent2>
      <a:accent3>
        <a:srgbClr val="d24d3b"/>
      </a:accent3>
      <a:accent4>
        <a:srgbClr val="d6e03e"/>
      </a:accent4>
      <a:accent5>
        <a:srgbClr val="8cab3c"/>
      </a:accent5>
      <a:accent6>
        <a:srgbClr val="12b5ea"/>
      </a:accent6>
      <a:hlink>
        <a:srgbClr val="056cb6"/>
      </a:hlink>
      <a:folHlink>
        <a:srgbClr val="ab79a3"/>
      </a:folHlink>
    </a:clrScheme>
    <a:fontScheme name="Neumont fonts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137E11E162FB4B98F22DCEA989B5BD" ma:contentTypeVersion="11" ma:contentTypeDescription="Create a new document." ma:contentTypeScope="" ma:versionID="6301621c49a6f61e7c878f67d74732b8">
  <xsd:schema xmlns:xsd="http://www.w3.org/2001/XMLSchema" xmlns:xs="http://www.w3.org/2001/XMLSchema" xmlns:p="http://schemas.microsoft.com/office/2006/metadata/properties" xmlns:ns2="9cd66317-82a3-4f36-a3fe-737b16e0be9b" xmlns:ns3="1961b331-b3d7-4d9b-a62a-b18abbf3f43d" targetNamespace="http://schemas.microsoft.com/office/2006/metadata/properties" ma:root="true" ma:fieldsID="be547f7dd44508d15b2e52394be573ea" ns2:_="" ns3:_="">
    <xsd:import namespace="9cd66317-82a3-4f36-a3fe-737b16e0be9b"/>
    <xsd:import namespace="1961b331-b3d7-4d9b-a62a-b18abbf3f43d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d66317-82a3-4f36-a3fe-737b16e0be9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fa771465-8dc0-4beb-88cb-3a71355649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61b331-b3d7-4d9b-a62a-b18abbf3f43d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3c3cf47-41d8-4e3d-9350-b7f1e9d0f3fc}" ma:internalName="TaxCatchAll" ma:showField="CatchAllData" ma:web="1961b331-b3d7-4d9b-a62a-b18abbf3f4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961b331-b3d7-4d9b-a62a-b18abbf3f43d" xsi:nil="true"/>
    <lcf76f155ced4ddcb4097134ff3c332f xmlns="9cd66317-82a3-4f36-a3fe-737b16e0be9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D36348-30D7-4B26-8A8F-51D4038AEE49}">
  <ds:schemaRefs>
    <ds:schemaRef ds:uri="1961b331-b3d7-4d9b-a62a-b18abbf3f43d"/>
    <ds:schemaRef ds:uri="9cd66317-82a3-4f36-a3fe-737b16e0be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C9728E-3A61-4D47-8B11-7C0E754788E8}">
  <ds:schemaRefs>
    <ds:schemaRef ds:uri="1961b331-b3d7-4d9b-a62a-b18abbf3f43d"/>
    <ds:schemaRef ds:uri="9cd66317-82a3-4f36-a3fe-737b16e0be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691BB23-305E-49ED-8B76-F932FD8D0A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LibreOffice/25.2.4.3$Linux_X86_64 LibreOffice_project/520$Build-3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2018-10-03T18:57:57Z</dcterms:created>
  <dc:creator>Raymond Maple</dc:creator>
  <dc:description/>
  <dc:language>en-US</dc:language>
  <cp:lastModifiedBy/>
  <dcterms:modified xsi:type="dcterms:W3CDTF">2026-06-04T14:50:18Z</dcterms:modified>
  <cp:revision>3</cp:revision>
  <dc:subject/>
  <dc:title>The Future You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0x01010059137E11E162FB4B98F22DCEA989B5BD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PresentationFormat">
    <vt:lpwstr>Widescreen</vt:lpwstr>
  </property>
  <property fmtid="{D5CDD505-2E9C-101B-9397-08002B2CF9AE}" pid="6" name="Slides">
    <vt:i4>3</vt:i4>
  </property>
</Properties>
</file>